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586BB8-5C62-4FB8-8F77-F8B90DCCB9E9}">
  <a:tblStyle styleId="{55586BB8-5C62-4FB8-8F77-F8B90DCCB9E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task5_editable_case1_origin.jpg"/><Relationship Id="rId4" Type="http://schemas.openxmlformats.org/officeDocument/2006/relationships/image" Target="../media/task5_editable_case1_enhanced.jpg"/><Relationship Id="rId5" Type="http://schemas.openxmlformats.org/officeDocument/2006/relationships/image" Target="../media/task5_editable_case2_origin.jpg"/><Relationship Id="rId6" Type="http://schemas.openxmlformats.org/officeDocument/2006/relationships/image" Target="../media/task5_editable_case2_enhanced.jpg"/><Relationship Id="rId7" Type="http://schemas.openxmlformats.org/officeDocument/2006/relationships/image" Target="../media/task5_editable_case3_origin.jpg"/><Relationship Id="rId8" Type="http://schemas.openxmlformats.org/officeDocument/2006/relationships/image" Target="../media/task5_editable_case3_enhanced.jpg"/><Relationship Id="rId9" Type="http://schemas.openxmlformats.org/officeDocument/2006/relationships/image" Target="../media/task5_editable_case4_origin.jpg"/><Relationship Id="rId10" Type="http://schemas.openxmlformats.org/officeDocument/2006/relationships/image" Target="../media/task5_editable_case4_enhanced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 ISIC_0032046"/>
          <p:cNvSpPr/>
          <p:nvPr/>
        </p:nvSpPr>
        <p:spPr>
          <a:xfrm>
            <a:off x="228600" y="164592"/>
            <a:ext cx="566928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11" name="case title"/>
          <p:cNvSpPr txBox="1"/>
          <p:nvPr/>
        </p:nvSpPr>
        <p:spPr>
          <a:xfrm>
            <a:off x="338328" y="237744"/>
            <a:ext cx="5449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zh-CN" sz="1450" b="1">
                <a:solidFill>
                  <a:srgbClr val="003F88"/>
                </a:solidFill>
                <a:latin typeface="Microsoft YaHei"/>
                <a:ea typeface="Microsoft YaHei"/>
              </a:rPr>
              <a:t>传统错、深度对：mel -&gt; nv</a:t>
            </a:r>
          </a:p>
        </p:txBody>
      </p:sp>
      <p:sp>
        <p:nvSpPr>
          <p:cNvPr id="12" name="origin label"/>
          <p:cNvSpPr txBox="1"/>
          <p:nvPr/>
        </p:nvSpPr>
        <p:spPr>
          <a:xfrm>
            <a:off x="338328" y="548640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750">
                <a:solidFill>
                  <a:srgbClr val="334155"/>
                </a:solidFill>
                <a:latin typeface="Microsoft YaHei"/>
                <a:ea typeface="Microsoft YaHei"/>
              </a:rPr>
              <a:t>原图</a:t>
            </a:r>
          </a:p>
        </p:txBody>
      </p:sp>
      <p:sp>
        <p:nvSpPr>
          <p:cNvPr id="13" name="enhanced label"/>
          <p:cNvSpPr txBox="1"/>
          <p:nvPr/>
        </p:nvSpPr>
        <p:spPr>
          <a:xfrm>
            <a:off x="1527048" y="548640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750">
                <a:solidFill>
                  <a:srgbClr val="334155"/>
                </a:solidFill>
                <a:latin typeface="Microsoft YaHei"/>
                <a:ea typeface="Microsoft YaHei"/>
              </a:rPr>
              <a:t>预处理</a:t>
            </a:r>
          </a:p>
        </p:txBody>
      </p:sp>
      <p:pic>
        <p:nvPicPr>
          <p:cNvPr id="14" name="ISIC_0032046 orig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747522"/>
            <a:ext cx="1078992" cy="809244"/>
          </a:xfrm>
          <a:prstGeom prst="rect">
            <a:avLst/>
          </a:prstGeom>
          <a:ln>
            <a:solidFill>
              <a:srgbClr val="CBD5E1"/>
            </a:solidFill>
          </a:ln>
        </p:spPr>
      </p:pic>
      <p:pic>
        <p:nvPicPr>
          <p:cNvPr id="15" name="ISIC_0032046 enhanc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" y="747522"/>
            <a:ext cx="1078992" cy="809244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16" name="facts"/>
          <p:cNvSpPr txBox="1"/>
          <p:nvPr/>
        </p:nvSpPr>
        <p:spPr>
          <a:xfrm>
            <a:off x="2770632" y="566928"/>
            <a:ext cx="299923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id：ISIC_0032046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真实：mel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传统：nv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深度：mel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置信度：0.9373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部位：trunk</a:t>
            </a:r>
          </a:p>
        </p:txBody>
      </p:sp>
      <p:sp>
        <p:nvSpPr>
          <p:cNvPr id="17" name="reason box"/>
          <p:cNvSpPr txBox="1"/>
          <p:nvPr/>
        </p:nvSpPr>
        <p:spPr>
          <a:xfrm>
            <a:off x="338328" y="1737360"/>
            <a:ext cx="5449824" cy="1380744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anchor="t" lIns="30480" rIns="30480" tIns="30480" bIns="30480"/>
          <a:lstStyle/>
          <a:p>
            <a:r>
              <a:rPr lang="zh-CN" sz="850" b="1">
                <a:solidFill>
                  <a:srgbClr val="9A3412"/>
                </a:solidFill>
                <a:latin typeface="Microsoft YaHei"/>
                <a:ea typeface="Microsoft YaHei"/>
              </a:rPr>
              <a:t>错误原因</a:t>
            </a:r>
          </a:p>
          <a:p>
            <a:r>
              <a:rPr lang="zh-CN" sz="780">
                <a:solidFill>
                  <a:srgbClr val="475569"/>
                </a:solidFill>
                <a:latin typeface="Microsoft YaHei"/>
                <a:ea typeface="Microsoft YaHei"/>
              </a:rPr>
              <a:t>传统手工特征把 mel 判为 nv，说明颜色/纹理相似时容易推向多数类；深度模型能抓到更细粒度病灶线索。</a:t>
            </a:r>
          </a:p>
        </p:txBody>
      </p:sp>
      <p:sp>
        <p:nvSpPr>
          <p:cNvPr id="30" name="case ISIC_0028611"/>
          <p:cNvSpPr/>
          <p:nvPr/>
        </p:nvSpPr>
        <p:spPr>
          <a:xfrm>
            <a:off x="6263640" y="164592"/>
            <a:ext cx="566928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31" name="case title"/>
          <p:cNvSpPr txBox="1"/>
          <p:nvPr/>
        </p:nvSpPr>
        <p:spPr>
          <a:xfrm>
            <a:off x="6373368" y="237744"/>
            <a:ext cx="5449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zh-CN" sz="1450" b="1">
                <a:solidFill>
                  <a:srgbClr val="003F88"/>
                </a:solidFill>
                <a:latin typeface="Microsoft YaHei"/>
                <a:ea typeface="Microsoft YaHei"/>
              </a:rPr>
              <a:t>高置信错误：bkl -&gt; akiec</a:t>
            </a:r>
          </a:p>
        </p:txBody>
      </p:sp>
      <p:sp>
        <p:nvSpPr>
          <p:cNvPr id="32" name="origin label"/>
          <p:cNvSpPr txBox="1"/>
          <p:nvPr/>
        </p:nvSpPr>
        <p:spPr>
          <a:xfrm>
            <a:off x="6373368" y="548640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750">
                <a:solidFill>
                  <a:srgbClr val="334155"/>
                </a:solidFill>
                <a:latin typeface="Microsoft YaHei"/>
                <a:ea typeface="Microsoft YaHei"/>
              </a:rPr>
              <a:t>原图</a:t>
            </a:r>
          </a:p>
        </p:txBody>
      </p:sp>
      <p:sp>
        <p:nvSpPr>
          <p:cNvPr id="33" name="enhanced label"/>
          <p:cNvSpPr txBox="1"/>
          <p:nvPr/>
        </p:nvSpPr>
        <p:spPr>
          <a:xfrm>
            <a:off x="7562088" y="548640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750">
                <a:solidFill>
                  <a:srgbClr val="334155"/>
                </a:solidFill>
                <a:latin typeface="Microsoft YaHei"/>
                <a:ea typeface="Microsoft YaHei"/>
              </a:rPr>
              <a:t>预处理</a:t>
            </a:r>
          </a:p>
        </p:txBody>
      </p:sp>
      <p:pic>
        <p:nvPicPr>
          <p:cNvPr id="34" name="ISIC_0028611 orig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747522"/>
            <a:ext cx="1078992" cy="809244"/>
          </a:xfrm>
          <a:prstGeom prst="rect">
            <a:avLst/>
          </a:prstGeom>
          <a:ln>
            <a:solidFill>
              <a:srgbClr val="CBD5E1"/>
            </a:solidFill>
          </a:ln>
        </p:spPr>
      </p:pic>
      <p:pic>
        <p:nvPicPr>
          <p:cNvPr id="35" name="ISIC_0028611 enhance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747522"/>
            <a:ext cx="1078992" cy="809244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36" name="facts"/>
          <p:cNvSpPr txBox="1"/>
          <p:nvPr/>
        </p:nvSpPr>
        <p:spPr>
          <a:xfrm>
            <a:off x="8805672" y="566928"/>
            <a:ext cx="299923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id：ISIC_0028611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真实：bkl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传统：nv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深度：akiec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置信度：0.9996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部位：lower extremity</a:t>
            </a:r>
          </a:p>
        </p:txBody>
      </p:sp>
      <p:sp>
        <p:nvSpPr>
          <p:cNvPr id="37" name="reason box"/>
          <p:cNvSpPr txBox="1"/>
          <p:nvPr/>
        </p:nvSpPr>
        <p:spPr>
          <a:xfrm>
            <a:off x="6373368" y="1737360"/>
            <a:ext cx="5449824" cy="1380744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anchor="t" lIns="30480" rIns="30480" tIns="30480" bIns="30480"/>
          <a:lstStyle/>
          <a:p>
            <a:r>
              <a:rPr lang="zh-CN" sz="850" b="1">
                <a:solidFill>
                  <a:srgbClr val="9A3412"/>
                </a:solidFill>
                <a:latin typeface="Microsoft YaHei"/>
                <a:ea typeface="Microsoft YaHei"/>
              </a:rPr>
              <a:t>错误原因</a:t>
            </a:r>
          </a:p>
          <a:p>
            <a:r>
              <a:rPr lang="zh-CN" sz="780">
                <a:solidFill>
                  <a:srgbClr val="475569"/>
                </a:solidFill>
                <a:latin typeface="Microsoft YaHei"/>
                <a:ea typeface="Microsoft YaHei"/>
              </a:rPr>
              <a:t>深度模型以接近 1 的置信度判为 akiec，说明 softmax 高置信不等于医学可靠，仍需要错误样本复核。</a:t>
            </a:r>
          </a:p>
        </p:txBody>
      </p:sp>
      <p:sp>
        <p:nvSpPr>
          <p:cNvPr id="50" name="case ISIC_0034205"/>
          <p:cNvSpPr/>
          <p:nvPr/>
        </p:nvSpPr>
        <p:spPr>
          <a:xfrm>
            <a:off x="228600" y="3520440"/>
            <a:ext cx="566928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51" name="case title"/>
          <p:cNvSpPr txBox="1"/>
          <p:nvPr/>
        </p:nvSpPr>
        <p:spPr>
          <a:xfrm>
            <a:off x="338328" y="3593592"/>
            <a:ext cx="5449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zh-CN" sz="1450" b="1">
                <a:solidFill>
                  <a:srgbClr val="003F88"/>
                </a:solidFill>
                <a:latin typeface="Microsoft YaHei"/>
                <a:ea typeface="Microsoft YaHei"/>
              </a:rPr>
              <a:t>传统对、深度错：mel -&gt; nv</a:t>
            </a:r>
          </a:p>
        </p:txBody>
      </p:sp>
      <p:sp>
        <p:nvSpPr>
          <p:cNvPr id="52" name="origin label"/>
          <p:cNvSpPr txBox="1"/>
          <p:nvPr/>
        </p:nvSpPr>
        <p:spPr>
          <a:xfrm>
            <a:off x="338328" y="3904488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750">
                <a:solidFill>
                  <a:srgbClr val="334155"/>
                </a:solidFill>
                <a:latin typeface="Microsoft YaHei"/>
                <a:ea typeface="Microsoft YaHei"/>
              </a:rPr>
              <a:t>原图</a:t>
            </a:r>
          </a:p>
        </p:txBody>
      </p:sp>
      <p:sp>
        <p:nvSpPr>
          <p:cNvPr id="53" name="enhanced label"/>
          <p:cNvSpPr txBox="1"/>
          <p:nvPr/>
        </p:nvSpPr>
        <p:spPr>
          <a:xfrm>
            <a:off x="1527048" y="3904488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750">
                <a:solidFill>
                  <a:srgbClr val="334155"/>
                </a:solidFill>
                <a:latin typeface="Microsoft YaHei"/>
                <a:ea typeface="Microsoft YaHei"/>
              </a:rPr>
              <a:t>预处理</a:t>
            </a:r>
          </a:p>
        </p:txBody>
      </p:sp>
      <p:pic>
        <p:nvPicPr>
          <p:cNvPr id="54" name="ISIC_0034205 origi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4103370"/>
            <a:ext cx="1078992" cy="809244"/>
          </a:xfrm>
          <a:prstGeom prst="rect">
            <a:avLst/>
          </a:prstGeom>
          <a:ln>
            <a:solidFill>
              <a:srgbClr val="CBD5E1"/>
            </a:solidFill>
          </a:ln>
        </p:spPr>
      </p:pic>
      <p:pic>
        <p:nvPicPr>
          <p:cNvPr id="55" name="ISIC_0034205 enhance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7048" y="4103370"/>
            <a:ext cx="1078992" cy="809244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56" name="facts"/>
          <p:cNvSpPr txBox="1"/>
          <p:nvPr/>
        </p:nvSpPr>
        <p:spPr>
          <a:xfrm>
            <a:off x="2770632" y="3922776"/>
            <a:ext cx="299923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id：ISIC_0034205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真实：mel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传统：mel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深度：nv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置信度：0.9959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部位：upper extremity</a:t>
            </a:r>
          </a:p>
        </p:txBody>
      </p:sp>
      <p:sp>
        <p:nvSpPr>
          <p:cNvPr id="57" name="reason box"/>
          <p:cNvSpPr txBox="1"/>
          <p:nvPr/>
        </p:nvSpPr>
        <p:spPr>
          <a:xfrm>
            <a:off x="338328" y="5093208"/>
            <a:ext cx="5449824" cy="1380744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anchor="t" lIns="30480" rIns="30480" tIns="30480" bIns="30480"/>
          <a:lstStyle/>
          <a:p>
            <a:r>
              <a:rPr lang="zh-CN" sz="850" b="1">
                <a:solidFill>
                  <a:srgbClr val="9A3412"/>
                </a:solidFill>
                <a:latin typeface="Microsoft YaHei"/>
                <a:ea typeface="Microsoft YaHei"/>
              </a:rPr>
              <a:t>错误原因</a:t>
            </a:r>
          </a:p>
          <a:p>
            <a:r>
              <a:rPr lang="zh-CN" sz="780">
                <a:solidFill>
                  <a:srgbClr val="475569"/>
                </a:solidFill>
                <a:latin typeface="Microsoft YaHei"/>
                <a:ea typeface="Microsoft YaHei"/>
              </a:rPr>
              <a:t>传统模型判对但深度模型高置信判为 nv，属于深度模型回退；提示深度模型仍可能漏掉少数 mel 样本。</a:t>
            </a:r>
          </a:p>
        </p:txBody>
      </p:sp>
      <p:sp>
        <p:nvSpPr>
          <p:cNvPr id="70" name="case ISIC_0030107"/>
          <p:cNvSpPr/>
          <p:nvPr/>
        </p:nvSpPr>
        <p:spPr>
          <a:xfrm>
            <a:off x="6263640" y="3520440"/>
            <a:ext cx="5669280" cy="3063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</p:sp>
      <p:sp>
        <p:nvSpPr>
          <p:cNvPr id="71" name="case title"/>
          <p:cNvSpPr txBox="1"/>
          <p:nvPr/>
        </p:nvSpPr>
        <p:spPr>
          <a:xfrm>
            <a:off x="6373368" y="3593592"/>
            <a:ext cx="544982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2860" rIns="22860" tIns="22860" bIns="22860"/>
          <a:lstStyle/>
          <a:p>
            <a:r>
              <a:rPr lang="zh-CN" sz="1450" b="1">
                <a:solidFill>
                  <a:srgbClr val="003F88"/>
                </a:solidFill>
                <a:latin typeface="Microsoft YaHei"/>
                <a:ea typeface="Microsoft YaHei"/>
              </a:rPr>
              <a:t>两个模型都错：mel -&gt; nv</a:t>
            </a:r>
          </a:p>
        </p:txBody>
      </p:sp>
      <p:sp>
        <p:nvSpPr>
          <p:cNvPr id="72" name="origin label"/>
          <p:cNvSpPr txBox="1"/>
          <p:nvPr/>
        </p:nvSpPr>
        <p:spPr>
          <a:xfrm>
            <a:off x="6373368" y="3904488"/>
            <a:ext cx="68580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750">
                <a:solidFill>
                  <a:srgbClr val="334155"/>
                </a:solidFill>
                <a:latin typeface="Microsoft YaHei"/>
                <a:ea typeface="Microsoft YaHei"/>
              </a:rPr>
              <a:t>原图</a:t>
            </a:r>
          </a:p>
        </p:txBody>
      </p:sp>
      <p:sp>
        <p:nvSpPr>
          <p:cNvPr id="73" name="enhanced label"/>
          <p:cNvSpPr txBox="1"/>
          <p:nvPr/>
        </p:nvSpPr>
        <p:spPr>
          <a:xfrm>
            <a:off x="7562088" y="3904488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750">
                <a:solidFill>
                  <a:srgbClr val="334155"/>
                </a:solidFill>
                <a:latin typeface="Microsoft YaHei"/>
                <a:ea typeface="Microsoft YaHei"/>
              </a:rPr>
              <a:t>预处理</a:t>
            </a:r>
          </a:p>
        </p:txBody>
      </p:sp>
      <p:pic>
        <p:nvPicPr>
          <p:cNvPr id="74" name="ISIC_0030107 origi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68" y="4103370"/>
            <a:ext cx="1078992" cy="809244"/>
          </a:xfrm>
          <a:prstGeom prst="rect">
            <a:avLst/>
          </a:prstGeom>
          <a:ln>
            <a:solidFill>
              <a:srgbClr val="CBD5E1"/>
            </a:solidFill>
          </a:ln>
        </p:spPr>
      </p:pic>
      <p:pic>
        <p:nvPicPr>
          <p:cNvPr id="75" name="ISIC_0030107 enhance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2088" y="4103370"/>
            <a:ext cx="1078992" cy="809244"/>
          </a:xfrm>
          <a:prstGeom prst="rect">
            <a:avLst/>
          </a:prstGeom>
          <a:ln>
            <a:solidFill>
              <a:srgbClr val="CBD5E1"/>
            </a:solidFill>
          </a:ln>
        </p:spPr>
      </p:pic>
      <p:sp>
        <p:nvSpPr>
          <p:cNvPr id="76" name="facts"/>
          <p:cNvSpPr txBox="1"/>
          <p:nvPr/>
        </p:nvSpPr>
        <p:spPr>
          <a:xfrm>
            <a:off x="8805672" y="3922776"/>
            <a:ext cx="2999232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" rIns="15240" tIns="15240" bIns="15240"/>
          <a:lstStyle/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id：ISIC_0030107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真实：mel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传统：nv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深度：nv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置信度：0.9997</a:t>
            </a:r>
          </a:p>
          <a:p>
            <a:r>
              <a:rPr lang="zh-CN" sz="850">
                <a:solidFill>
                  <a:srgbClr val="1E293B"/>
                </a:solidFill>
                <a:latin typeface="Microsoft YaHei"/>
                <a:ea typeface="Microsoft YaHei"/>
              </a:rPr>
              <a:t>部位：scalp</a:t>
            </a:r>
          </a:p>
        </p:txBody>
      </p:sp>
      <p:sp>
        <p:nvSpPr>
          <p:cNvPr id="77" name="reason box"/>
          <p:cNvSpPr txBox="1"/>
          <p:nvPr/>
        </p:nvSpPr>
        <p:spPr>
          <a:xfrm>
            <a:off x="6373368" y="5093208"/>
            <a:ext cx="5449824" cy="1380744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txBody>
          <a:bodyPr wrap="square" anchor="t" lIns="30480" rIns="30480" tIns="30480" bIns="30480"/>
          <a:lstStyle/>
          <a:p>
            <a:r>
              <a:rPr lang="zh-CN" sz="850" b="1">
                <a:solidFill>
                  <a:srgbClr val="9A3412"/>
                </a:solidFill>
                <a:latin typeface="Microsoft YaHei"/>
                <a:ea typeface="Microsoft YaHei"/>
              </a:rPr>
              <a:t>错误原因</a:t>
            </a:r>
          </a:p>
          <a:p>
            <a:r>
              <a:rPr lang="zh-CN" sz="780">
                <a:solidFill>
                  <a:srgbClr val="475569"/>
                </a:solidFill>
                <a:latin typeface="Microsoft YaHei"/>
                <a:ea typeface="Microsoft YaHei"/>
              </a:rPr>
              <a:t>传统和深度都把 mel 判为 nv，且深度置信度接近 1；这类共同困难样本应优先人工复核和模型校准。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1083</Words>
  <Application>Microsoft Office PowerPoint</Application>
  <PresentationFormat>宽屏</PresentationFormat>
  <Paragraphs>132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Arial</vt:lpstr>
      <vt:lpstr>Microsoft YaHei</vt:lpstr>
      <vt:lpstr>Noto Sans SC</vt:lpstr>
      <vt:lpstr>Calibri</vt:lpstr>
      <vt:lpstr>Poppins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shenqi zhou</cp:lastModifiedBy>
  <cp:revision>3</cp:revision>
  <dcterms:modified xsi:type="dcterms:W3CDTF">2026-06-02T03:29:17Z</dcterms:modified>
</cp:coreProperties>
</file>